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Prata" panose="020B0604020202020204" charset="0"/>
      <p:regular r:id="rId14"/>
    </p:embeddedFont>
    <p:embeddedFont>
      <p:font typeface="Raleway"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1C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FC6136-3F71-4971-86A1-43323B88CD81}" v="6" dt="2025-04-19T12:17:48.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Nsk" userId="486330122bd25aa2" providerId="LiveId" clId="{FDFC6136-3F71-4971-86A1-43323B88CD81}"/>
    <pc:docChg chg="undo redo custSel modSld">
      <pc:chgData name="Abdul Nsk" userId="486330122bd25aa2" providerId="LiveId" clId="{FDFC6136-3F71-4971-86A1-43323B88CD81}" dt="2025-04-19T12:17:53.116" v="132" actId="171"/>
      <pc:docMkLst>
        <pc:docMk/>
      </pc:docMkLst>
      <pc:sldChg chg="addSp delSp modSp mod">
        <pc:chgData name="Abdul Nsk" userId="486330122bd25aa2" providerId="LiveId" clId="{FDFC6136-3F71-4971-86A1-43323B88CD81}" dt="2025-04-19T12:14:39.677" v="17" actId="1036"/>
        <pc:sldMkLst>
          <pc:docMk/>
          <pc:sldMk cId="0" sldId="256"/>
        </pc:sldMkLst>
        <pc:spChg chg="del">
          <ac:chgData name="Abdul Nsk" userId="486330122bd25aa2" providerId="LiveId" clId="{FDFC6136-3F71-4971-86A1-43323B88CD81}" dt="2025-04-19T12:13:19.314" v="0" actId="478"/>
          <ac:spMkLst>
            <pc:docMk/>
            <pc:sldMk cId="0" sldId="256"/>
            <ac:spMk id="5" creationId="{7B0BCCF4-B9BB-F9B1-6E70-9F3DEB8AA57C}"/>
          </ac:spMkLst>
        </pc:spChg>
        <pc:spChg chg="add mod ord">
          <ac:chgData name="Abdul Nsk" userId="486330122bd25aa2" providerId="LiveId" clId="{FDFC6136-3F71-4971-86A1-43323B88CD81}" dt="2025-04-19T12:14:39.677" v="17" actId="1036"/>
          <ac:spMkLst>
            <pc:docMk/>
            <pc:sldMk cId="0" sldId="256"/>
            <ac:spMk id="6" creationId="{B141E166-89E7-5259-383C-C7B9692F65DD}"/>
          </ac:spMkLst>
        </pc:spChg>
      </pc:sldChg>
      <pc:sldChg chg="addSp delSp modSp mod">
        <pc:chgData name="Abdul Nsk" userId="486330122bd25aa2" providerId="LiveId" clId="{FDFC6136-3F71-4971-86A1-43323B88CD81}" dt="2025-04-19T12:16:19.447" v="73" actId="1076"/>
        <pc:sldMkLst>
          <pc:docMk/>
          <pc:sldMk cId="0" sldId="258"/>
        </pc:sldMkLst>
        <pc:spChg chg="del">
          <ac:chgData name="Abdul Nsk" userId="486330122bd25aa2" providerId="LiveId" clId="{FDFC6136-3F71-4971-86A1-43323B88CD81}" dt="2025-04-19T12:16:15.131" v="72" actId="478"/>
          <ac:spMkLst>
            <pc:docMk/>
            <pc:sldMk cId="0" sldId="258"/>
            <ac:spMk id="11" creationId="{9CC7C6BE-5F20-DF34-3820-E929D7114DCC}"/>
          </ac:spMkLst>
        </pc:spChg>
        <pc:spChg chg="add mod ord">
          <ac:chgData name="Abdul Nsk" userId="486330122bd25aa2" providerId="LiveId" clId="{FDFC6136-3F71-4971-86A1-43323B88CD81}" dt="2025-04-19T12:16:19.447" v="73" actId="1076"/>
          <ac:spMkLst>
            <pc:docMk/>
            <pc:sldMk cId="0" sldId="258"/>
            <ac:spMk id="12" creationId="{ADA3A4C0-311E-0DA9-CB76-21268A9D19BC}"/>
          </ac:spMkLst>
        </pc:spChg>
      </pc:sldChg>
      <pc:sldChg chg="addSp delSp modSp mod">
        <pc:chgData name="Abdul Nsk" userId="486330122bd25aa2" providerId="LiveId" clId="{FDFC6136-3F71-4971-86A1-43323B88CD81}" dt="2025-04-19T12:16:29.086" v="76" actId="1076"/>
        <pc:sldMkLst>
          <pc:docMk/>
          <pc:sldMk cId="0" sldId="259"/>
        </pc:sldMkLst>
        <pc:spChg chg="del">
          <ac:chgData name="Abdul Nsk" userId="486330122bd25aa2" providerId="LiveId" clId="{FDFC6136-3F71-4971-86A1-43323B88CD81}" dt="2025-04-19T12:16:26.046" v="75" actId="478"/>
          <ac:spMkLst>
            <pc:docMk/>
            <pc:sldMk cId="0" sldId="259"/>
            <ac:spMk id="18" creationId="{F893D95E-66DA-6DDD-47BF-C8196A266043}"/>
          </ac:spMkLst>
        </pc:spChg>
        <pc:spChg chg="add mod ord">
          <ac:chgData name="Abdul Nsk" userId="486330122bd25aa2" providerId="LiveId" clId="{FDFC6136-3F71-4971-86A1-43323B88CD81}" dt="2025-04-19T12:16:29.086" v="76" actId="1076"/>
          <ac:spMkLst>
            <pc:docMk/>
            <pc:sldMk cId="0" sldId="259"/>
            <ac:spMk id="19" creationId="{3379BB8E-3177-D240-3077-16A2E5B1D4D4}"/>
          </ac:spMkLst>
        </pc:spChg>
      </pc:sldChg>
      <pc:sldChg chg="addSp delSp modSp mod">
        <pc:chgData name="Abdul Nsk" userId="486330122bd25aa2" providerId="LiveId" clId="{FDFC6136-3F71-4971-86A1-43323B88CD81}" dt="2025-04-19T12:16:51.593" v="98" actId="171"/>
        <pc:sldMkLst>
          <pc:docMk/>
          <pc:sldMk cId="0" sldId="261"/>
        </pc:sldMkLst>
        <pc:spChg chg="del">
          <ac:chgData name="Abdul Nsk" userId="486330122bd25aa2" providerId="LiveId" clId="{FDFC6136-3F71-4971-86A1-43323B88CD81}" dt="2025-04-19T12:16:37.561" v="77" actId="478"/>
          <ac:spMkLst>
            <pc:docMk/>
            <pc:sldMk cId="0" sldId="261"/>
            <ac:spMk id="19" creationId="{FFCA38AD-9396-7511-DF6B-F3BA16EF2215}"/>
          </ac:spMkLst>
        </pc:spChg>
        <pc:spChg chg="add mod ord">
          <ac:chgData name="Abdul Nsk" userId="486330122bd25aa2" providerId="LiveId" clId="{FDFC6136-3F71-4971-86A1-43323B88CD81}" dt="2025-04-19T12:16:51.593" v="98" actId="171"/>
          <ac:spMkLst>
            <pc:docMk/>
            <pc:sldMk cId="0" sldId="261"/>
            <ac:spMk id="20" creationId="{6CD38D27-0235-EF8C-0791-867BFE56156A}"/>
          </ac:spMkLst>
        </pc:spChg>
      </pc:sldChg>
      <pc:sldChg chg="addSp delSp modSp mod">
        <pc:chgData name="Abdul Nsk" userId="486330122bd25aa2" providerId="LiveId" clId="{FDFC6136-3F71-4971-86A1-43323B88CD81}" dt="2025-04-19T12:17:09.954" v="108" actId="171"/>
        <pc:sldMkLst>
          <pc:docMk/>
          <pc:sldMk cId="0" sldId="262"/>
        </pc:sldMkLst>
        <pc:spChg chg="del">
          <ac:chgData name="Abdul Nsk" userId="486330122bd25aa2" providerId="LiveId" clId="{FDFC6136-3F71-4971-86A1-43323B88CD81}" dt="2025-04-19T12:17:00.791" v="99" actId="478"/>
          <ac:spMkLst>
            <pc:docMk/>
            <pc:sldMk cId="0" sldId="262"/>
            <ac:spMk id="7" creationId="{9E63BF99-ABBA-11EA-D4EA-8E2D2165678E}"/>
          </ac:spMkLst>
        </pc:spChg>
        <pc:spChg chg="add mod ord">
          <ac:chgData name="Abdul Nsk" userId="486330122bd25aa2" providerId="LiveId" clId="{FDFC6136-3F71-4971-86A1-43323B88CD81}" dt="2025-04-19T12:17:09.954" v="108" actId="171"/>
          <ac:spMkLst>
            <pc:docMk/>
            <pc:sldMk cId="0" sldId="262"/>
            <ac:spMk id="8" creationId="{31656F5A-20EA-0F84-20E9-092C8BA01CB1}"/>
          </ac:spMkLst>
        </pc:spChg>
      </pc:sldChg>
      <pc:sldChg chg="addSp delSp modSp mod">
        <pc:chgData name="Abdul Nsk" userId="486330122bd25aa2" providerId="LiveId" clId="{FDFC6136-3F71-4971-86A1-43323B88CD81}" dt="2025-04-19T12:17:34.901" v="125" actId="171"/>
        <pc:sldMkLst>
          <pc:docMk/>
          <pc:sldMk cId="0" sldId="264"/>
        </pc:sldMkLst>
        <pc:spChg chg="del">
          <ac:chgData name="Abdul Nsk" userId="486330122bd25aa2" providerId="LiveId" clId="{FDFC6136-3F71-4971-86A1-43323B88CD81}" dt="2025-04-19T12:17:21.319" v="109" actId="478"/>
          <ac:spMkLst>
            <pc:docMk/>
            <pc:sldMk cId="0" sldId="264"/>
            <ac:spMk id="13" creationId="{97FAE80C-BBB6-C09C-8709-9254E26AD1BB}"/>
          </ac:spMkLst>
        </pc:spChg>
        <pc:spChg chg="add mod ord">
          <ac:chgData name="Abdul Nsk" userId="486330122bd25aa2" providerId="LiveId" clId="{FDFC6136-3F71-4971-86A1-43323B88CD81}" dt="2025-04-19T12:17:34.901" v="125" actId="171"/>
          <ac:spMkLst>
            <pc:docMk/>
            <pc:sldMk cId="0" sldId="264"/>
            <ac:spMk id="14" creationId="{B99BD5CD-2A13-DEFE-8D7C-A91213892BE8}"/>
          </ac:spMkLst>
        </pc:spChg>
      </pc:sldChg>
      <pc:sldChg chg="addSp delSp modSp mod">
        <pc:chgData name="Abdul Nsk" userId="486330122bd25aa2" providerId="LiveId" clId="{FDFC6136-3F71-4971-86A1-43323B88CD81}" dt="2025-04-19T12:17:53.116" v="132" actId="171"/>
        <pc:sldMkLst>
          <pc:docMk/>
          <pc:sldMk cId="0" sldId="266"/>
        </pc:sldMkLst>
        <pc:spChg chg="del">
          <ac:chgData name="Abdul Nsk" userId="486330122bd25aa2" providerId="LiveId" clId="{FDFC6136-3F71-4971-86A1-43323B88CD81}" dt="2025-04-19T12:17:44.734" v="126" actId="478"/>
          <ac:spMkLst>
            <pc:docMk/>
            <pc:sldMk cId="0" sldId="266"/>
            <ac:spMk id="3" creationId="{F170C8C0-299D-931C-F8F3-C2118F64C8C8}"/>
          </ac:spMkLst>
        </pc:spChg>
        <pc:spChg chg="add mod ord">
          <ac:chgData name="Abdul Nsk" userId="486330122bd25aa2" providerId="LiveId" clId="{FDFC6136-3F71-4971-86A1-43323B88CD81}" dt="2025-04-19T12:17:53.116" v="132" actId="171"/>
          <ac:spMkLst>
            <pc:docMk/>
            <pc:sldMk cId="0" sldId="266"/>
            <ac:spMk id="4" creationId="{CF11D8FC-8F4F-E823-9ED3-61DAA43405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695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141E166-89E7-5259-383C-C7B9692F65DD}"/>
              </a:ext>
            </a:extLst>
          </p:cNvPr>
          <p:cNvSpPr/>
          <p:nvPr/>
        </p:nvSpPr>
        <p:spPr>
          <a:xfrm>
            <a:off x="0" y="22302"/>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3363516"/>
            <a:ext cx="12645271"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Smart Security Camera with Motion Detection</a:t>
            </a:r>
            <a:endParaRPr lang="en-US" sz="4450" dirty="0"/>
          </a:p>
        </p:txBody>
      </p:sp>
      <p:sp>
        <p:nvSpPr>
          <p:cNvPr id="3" name="Text 1"/>
          <p:cNvSpPr/>
          <p:nvPr/>
        </p:nvSpPr>
        <p:spPr>
          <a:xfrm>
            <a:off x="793790" y="4412456"/>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CFCBBF"/>
                </a:solidFill>
                <a:latin typeface="Raleway" pitchFamily="34" charset="0"/>
                <a:ea typeface="Raleway" pitchFamily="34" charset="-122"/>
                <a:cs typeface="Raleway" pitchFamily="34" charset="-120"/>
              </a:rPr>
              <a:t>A Python-based Surveillance and Alert System.</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58190"/>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F2E782"/>
                </a:solidFill>
                <a:latin typeface="Prata" pitchFamily="34" charset="0"/>
                <a:ea typeface="Prata" pitchFamily="34" charset="-122"/>
                <a:cs typeface="Prata" pitchFamily="34" charset="-120"/>
              </a:rPr>
              <a:t>Introduction :</a:t>
            </a:r>
            <a:endParaRPr lang="en-US" sz="3550" dirty="0"/>
          </a:p>
        </p:txBody>
      </p:sp>
      <p:sp>
        <p:nvSpPr>
          <p:cNvPr id="4" name="Text 1"/>
          <p:cNvSpPr/>
          <p:nvPr/>
        </p:nvSpPr>
        <p:spPr>
          <a:xfrm>
            <a:off x="793790" y="1597343"/>
            <a:ext cx="7556421" cy="290274"/>
          </a:xfrm>
          <a:prstGeom prst="rect">
            <a:avLst/>
          </a:prstGeom>
          <a:noFill/>
          <a:ln/>
        </p:spPr>
        <p:txBody>
          <a:bodyPr wrap="none" lIns="0" tIns="0" rIns="0" bIns="0" rtlCol="0" anchor="t"/>
          <a:lstStyle/>
          <a:p>
            <a:pPr marL="0" indent="0" algn="l">
              <a:lnSpc>
                <a:spcPts val="2250"/>
              </a:lnSpc>
              <a:buNone/>
            </a:pPr>
            <a:r>
              <a:rPr lang="en-US" sz="1400" b="1" dirty="0">
                <a:solidFill>
                  <a:srgbClr val="CFCBBF"/>
                </a:solidFill>
                <a:latin typeface="Raleway" pitchFamily="34" charset="0"/>
                <a:ea typeface="Raleway" pitchFamily="34" charset="-122"/>
                <a:cs typeface="Raleway" pitchFamily="34" charset="-120"/>
              </a:rPr>
              <a:t>Real-Time Surveillance with AI Alerts &amp; Cloud Storage</a:t>
            </a:r>
            <a:endParaRPr lang="en-US" sz="1400" dirty="0"/>
          </a:p>
        </p:txBody>
      </p:sp>
      <p:sp>
        <p:nvSpPr>
          <p:cNvPr id="5" name="Text 2"/>
          <p:cNvSpPr/>
          <p:nvPr/>
        </p:nvSpPr>
        <p:spPr>
          <a:xfrm>
            <a:off x="793790" y="2091690"/>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This presentation unveils our cutting-edge smart security camera system, engineered for real-time monitoring and automatic alerts using advanced AI technologies. It is designed to meet modern safety needs through seamless integration of motion detection, face recognition, intelligent notifications, and secure cloud storage, wrapped in a sleek, tech-inspired visual aesthetic.</a:t>
            </a:r>
            <a:endParaRPr lang="en-US" sz="1750" dirty="0"/>
          </a:p>
        </p:txBody>
      </p:sp>
      <p:sp>
        <p:nvSpPr>
          <p:cNvPr id="6" name="Text 3"/>
          <p:cNvSpPr/>
          <p:nvPr/>
        </p:nvSpPr>
        <p:spPr>
          <a:xfrm>
            <a:off x="793790" y="447317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This project aims to solve that by developing a Smart Security Camera that can:</a:t>
            </a:r>
            <a:endParaRPr lang="en-US" sz="1750" dirty="0"/>
          </a:p>
        </p:txBody>
      </p:sp>
      <p:sp>
        <p:nvSpPr>
          <p:cNvPr id="7" name="Text 4"/>
          <p:cNvSpPr/>
          <p:nvPr/>
        </p:nvSpPr>
        <p:spPr>
          <a:xfrm>
            <a:off x="793790" y="5403056"/>
            <a:ext cx="7556421" cy="362903"/>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CFCBBF"/>
                </a:solidFill>
                <a:latin typeface="Raleway" pitchFamily="34" charset="0"/>
                <a:ea typeface="Raleway" pitchFamily="34" charset="-122"/>
                <a:cs typeface="Raleway" pitchFamily="34" charset="-120"/>
              </a:rPr>
              <a:t>Detect motion in real-time,</a:t>
            </a:r>
            <a:endParaRPr lang="en-US" sz="1400" dirty="0"/>
          </a:p>
        </p:txBody>
      </p:sp>
      <p:sp>
        <p:nvSpPr>
          <p:cNvPr id="8" name="Text 5"/>
          <p:cNvSpPr/>
          <p:nvPr/>
        </p:nvSpPr>
        <p:spPr>
          <a:xfrm>
            <a:off x="793790" y="5829419"/>
            <a:ext cx="7556421" cy="362903"/>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CFCBBF"/>
                </a:solidFill>
                <a:latin typeface="Raleway" pitchFamily="34" charset="0"/>
                <a:ea typeface="Raleway" pitchFamily="34" charset="-122"/>
                <a:cs typeface="Raleway" pitchFamily="34" charset="-120"/>
              </a:rPr>
              <a:t>Recognize known individuals,</a:t>
            </a:r>
            <a:endParaRPr lang="en-US" sz="1400" dirty="0"/>
          </a:p>
        </p:txBody>
      </p:sp>
      <p:sp>
        <p:nvSpPr>
          <p:cNvPr id="9" name="Text 6"/>
          <p:cNvSpPr/>
          <p:nvPr/>
        </p:nvSpPr>
        <p:spPr>
          <a:xfrm>
            <a:off x="793790" y="6255782"/>
            <a:ext cx="7556421" cy="362903"/>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CFCBBF"/>
                </a:solidFill>
                <a:latin typeface="Raleway" pitchFamily="34" charset="0"/>
                <a:ea typeface="Raleway" pitchFamily="34" charset="-122"/>
                <a:cs typeface="Raleway" pitchFamily="34" charset="-120"/>
              </a:rPr>
              <a:t>Alert users instantly via email,</a:t>
            </a:r>
            <a:endParaRPr lang="en-US" sz="1400" dirty="0"/>
          </a:p>
        </p:txBody>
      </p:sp>
      <p:sp>
        <p:nvSpPr>
          <p:cNvPr id="10" name="Text 7"/>
          <p:cNvSpPr/>
          <p:nvPr/>
        </p:nvSpPr>
        <p:spPr>
          <a:xfrm>
            <a:off x="793790" y="6682145"/>
            <a:ext cx="7556421" cy="362903"/>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CFCBBF"/>
                </a:solidFill>
                <a:latin typeface="Raleway" pitchFamily="34" charset="0"/>
                <a:ea typeface="Raleway" pitchFamily="34" charset="-122"/>
                <a:cs typeface="Raleway" pitchFamily="34" charset="-120"/>
              </a:rPr>
              <a:t>Trigger alarms for suspicious activity, and</a:t>
            </a:r>
            <a:endParaRPr lang="en-US" sz="1400" dirty="0"/>
          </a:p>
        </p:txBody>
      </p:sp>
      <p:sp>
        <p:nvSpPr>
          <p:cNvPr id="11" name="Text 8"/>
          <p:cNvSpPr/>
          <p:nvPr/>
        </p:nvSpPr>
        <p:spPr>
          <a:xfrm>
            <a:off x="793790" y="7108508"/>
            <a:ext cx="7556421" cy="362903"/>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CFCBBF"/>
                </a:solidFill>
                <a:latin typeface="Raleway" pitchFamily="34" charset="0"/>
                <a:ea typeface="Raleway" pitchFamily="34" charset="-122"/>
                <a:cs typeface="Raleway" pitchFamily="34" charset="-120"/>
              </a:rPr>
              <a:t>Store surveillance footage securely in the cloud.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DA3A4C0-311E-0DA9-CB76-21268A9D19BC}"/>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235850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Core Features</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Motion Detection</a:t>
            </a:r>
            <a:endParaRPr lang="en-US" sz="2200" dirty="0"/>
          </a:p>
        </p:txBody>
      </p:sp>
      <p:sp>
        <p:nvSpPr>
          <p:cNvPr id="4" name="Text 2"/>
          <p:cNvSpPr/>
          <p:nvPr/>
        </p:nvSpPr>
        <p:spPr>
          <a:xfrm>
            <a:off x="793790" y="421540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Real-time tracking using OpenCV technology for accurate and quick movement identification.</a:t>
            </a:r>
            <a:endParaRPr lang="en-US" sz="1750" dirty="0"/>
          </a:p>
        </p:txBody>
      </p:sp>
      <p:sp>
        <p:nvSpPr>
          <p:cNvPr id="5" name="Text 3"/>
          <p:cNvSpPr/>
          <p:nvPr/>
        </p:nvSpPr>
        <p:spPr>
          <a:xfrm>
            <a:off x="4200406"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Face Recognition</a:t>
            </a:r>
            <a:endParaRPr lang="en-US" sz="2200" dirty="0"/>
          </a:p>
        </p:txBody>
      </p:sp>
      <p:sp>
        <p:nvSpPr>
          <p:cNvPr id="6" name="Text 4"/>
          <p:cNvSpPr/>
          <p:nvPr/>
        </p:nvSpPr>
        <p:spPr>
          <a:xfrm>
            <a:off x="4200406" y="421540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Detects known/unknown persons with intelligent alerts, enhancing security precision.</a:t>
            </a:r>
            <a:endParaRPr lang="en-US" sz="1750" dirty="0"/>
          </a:p>
        </p:txBody>
      </p:sp>
      <p:sp>
        <p:nvSpPr>
          <p:cNvPr id="7" name="Text 5"/>
          <p:cNvSpPr/>
          <p:nvPr/>
        </p:nvSpPr>
        <p:spPr>
          <a:xfrm>
            <a:off x="7607022"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Email Alerts</a:t>
            </a:r>
            <a:endParaRPr lang="en-US" sz="2200" dirty="0"/>
          </a:p>
        </p:txBody>
      </p:sp>
      <p:sp>
        <p:nvSpPr>
          <p:cNvPr id="8" name="Text 6"/>
          <p:cNvSpPr/>
          <p:nvPr/>
        </p:nvSpPr>
        <p:spPr>
          <a:xfrm>
            <a:off x="7607022" y="421540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Sends timely notifications with video attachments via smtplib, ensuring fast response.</a:t>
            </a:r>
            <a:endParaRPr lang="en-US" sz="1750" dirty="0"/>
          </a:p>
        </p:txBody>
      </p:sp>
      <p:sp>
        <p:nvSpPr>
          <p:cNvPr id="9" name="Text 7"/>
          <p:cNvSpPr/>
          <p:nvPr/>
        </p:nvSpPr>
        <p:spPr>
          <a:xfrm>
            <a:off x="11013638"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Cloud Backup</a:t>
            </a:r>
            <a:endParaRPr lang="en-US" sz="2200" dirty="0"/>
          </a:p>
        </p:txBody>
      </p:sp>
      <p:sp>
        <p:nvSpPr>
          <p:cNvPr id="10" name="Text 8"/>
          <p:cNvSpPr/>
          <p:nvPr/>
        </p:nvSpPr>
        <p:spPr>
          <a:xfrm>
            <a:off x="11013638" y="421540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Secure storage using Google Drive and AWS for reliable, scalable video archiving.</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379BB8E-3177-D240-3077-16A2E5B1D4D4}"/>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873681"/>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F2E782"/>
                </a:solidFill>
                <a:latin typeface="Prata" pitchFamily="34" charset="0"/>
                <a:ea typeface="Prata" pitchFamily="34" charset="-122"/>
                <a:cs typeface="Prata" pitchFamily="34" charset="-120"/>
              </a:rPr>
              <a:t>How It Works</a:t>
            </a:r>
            <a:endParaRPr lang="en-US" sz="3550" dirty="0"/>
          </a:p>
        </p:txBody>
      </p:sp>
      <p:pic>
        <p:nvPicPr>
          <p:cNvPr id="3" name="Image 0" descr="preencoded.png"/>
          <p:cNvPicPr>
            <a:picLocks noChangeAspect="1"/>
          </p:cNvPicPr>
          <p:nvPr/>
        </p:nvPicPr>
        <p:blipFill>
          <a:blip r:embed="rId3"/>
          <a:stretch>
            <a:fillRect/>
          </a:stretch>
        </p:blipFill>
        <p:spPr>
          <a:xfrm>
            <a:off x="793790" y="1803559"/>
            <a:ext cx="907256" cy="1197531"/>
          </a:xfrm>
          <a:prstGeom prst="rect">
            <a:avLst/>
          </a:prstGeom>
        </p:spPr>
      </p:pic>
      <p:sp>
        <p:nvSpPr>
          <p:cNvPr id="4" name="Text 1"/>
          <p:cNvSpPr/>
          <p:nvPr/>
        </p:nvSpPr>
        <p:spPr>
          <a:xfrm>
            <a:off x="1973223" y="1985010"/>
            <a:ext cx="11863387"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Camera</a:t>
            </a:r>
            <a:endParaRPr lang="en-US" sz="1750" dirty="0"/>
          </a:p>
        </p:txBody>
      </p:sp>
      <p:sp>
        <p:nvSpPr>
          <p:cNvPr id="5" name="Text 2"/>
          <p:cNvSpPr/>
          <p:nvPr/>
        </p:nvSpPr>
        <p:spPr>
          <a:xfrm>
            <a:off x="1973223" y="2456736"/>
            <a:ext cx="11863387"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Captures live video streams strategically placed for optimal coverage.</a:t>
            </a:r>
            <a:endParaRPr lang="en-US" sz="1750" dirty="0"/>
          </a:p>
        </p:txBody>
      </p:sp>
      <p:pic>
        <p:nvPicPr>
          <p:cNvPr id="6" name="Image 1" descr="preencoded.png"/>
          <p:cNvPicPr>
            <a:picLocks noChangeAspect="1"/>
          </p:cNvPicPr>
          <p:nvPr/>
        </p:nvPicPr>
        <p:blipFill>
          <a:blip r:embed="rId4"/>
          <a:stretch>
            <a:fillRect/>
          </a:stretch>
        </p:blipFill>
        <p:spPr>
          <a:xfrm>
            <a:off x="793790" y="3001089"/>
            <a:ext cx="907256" cy="1088708"/>
          </a:xfrm>
          <a:prstGeom prst="rect">
            <a:avLst/>
          </a:prstGeom>
        </p:spPr>
      </p:pic>
      <p:sp>
        <p:nvSpPr>
          <p:cNvPr id="7" name="Text 3"/>
          <p:cNvSpPr/>
          <p:nvPr/>
        </p:nvSpPr>
        <p:spPr>
          <a:xfrm>
            <a:off x="1973223" y="3182541"/>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Motion Detection</a:t>
            </a:r>
            <a:endParaRPr lang="en-US" sz="1750" dirty="0"/>
          </a:p>
        </p:txBody>
      </p:sp>
      <p:sp>
        <p:nvSpPr>
          <p:cNvPr id="8" name="Text 4"/>
          <p:cNvSpPr/>
          <p:nvPr/>
        </p:nvSpPr>
        <p:spPr>
          <a:xfrm>
            <a:off x="1973223" y="3574852"/>
            <a:ext cx="11863387" cy="290274"/>
          </a:xfrm>
          <a:prstGeom prst="rect">
            <a:avLst/>
          </a:prstGeom>
          <a:noFill/>
          <a:ln/>
        </p:spPr>
        <p:txBody>
          <a:bodyPr wrap="non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Analyzes movement dynamically to trigger further facial recognition processing.</a:t>
            </a:r>
            <a:endParaRPr lang="en-US" sz="1400" dirty="0"/>
          </a:p>
        </p:txBody>
      </p:sp>
      <p:pic>
        <p:nvPicPr>
          <p:cNvPr id="9" name="Image 2" descr="preencoded.png"/>
          <p:cNvPicPr>
            <a:picLocks noChangeAspect="1"/>
          </p:cNvPicPr>
          <p:nvPr/>
        </p:nvPicPr>
        <p:blipFill>
          <a:blip r:embed="rId5"/>
          <a:stretch>
            <a:fillRect/>
          </a:stretch>
        </p:blipFill>
        <p:spPr>
          <a:xfrm>
            <a:off x="793790" y="4089797"/>
            <a:ext cx="907256" cy="1088708"/>
          </a:xfrm>
          <a:prstGeom prst="rect">
            <a:avLst/>
          </a:prstGeom>
        </p:spPr>
      </p:pic>
      <p:sp>
        <p:nvSpPr>
          <p:cNvPr id="10" name="Text 5"/>
          <p:cNvSpPr/>
          <p:nvPr/>
        </p:nvSpPr>
        <p:spPr>
          <a:xfrm>
            <a:off x="1973223" y="4271248"/>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Face Recognition</a:t>
            </a:r>
            <a:endParaRPr lang="en-US" sz="1750" dirty="0"/>
          </a:p>
        </p:txBody>
      </p:sp>
      <p:sp>
        <p:nvSpPr>
          <p:cNvPr id="11" name="Text 6"/>
          <p:cNvSpPr/>
          <p:nvPr/>
        </p:nvSpPr>
        <p:spPr>
          <a:xfrm>
            <a:off x="1973223" y="4663559"/>
            <a:ext cx="11863387" cy="290274"/>
          </a:xfrm>
          <a:prstGeom prst="rect">
            <a:avLst/>
          </a:prstGeom>
          <a:noFill/>
          <a:ln/>
        </p:spPr>
        <p:txBody>
          <a:bodyPr wrap="non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Identifies individuals in the frame, differentiating between known and unknown persons.</a:t>
            </a:r>
            <a:endParaRPr lang="en-US" sz="1400" dirty="0"/>
          </a:p>
        </p:txBody>
      </p:sp>
      <p:pic>
        <p:nvPicPr>
          <p:cNvPr id="12" name="Image 3" descr="preencoded.png"/>
          <p:cNvPicPr>
            <a:picLocks noChangeAspect="1"/>
          </p:cNvPicPr>
          <p:nvPr/>
        </p:nvPicPr>
        <p:blipFill>
          <a:blip r:embed="rId6"/>
          <a:stretch>
            <a:fillRect/>
          </a:stretch>
        </p:blipFill>
        <p:spPr>
          <a:xfrm>
            <a:off x="793790" y="5178504"/>
            <a:ext cx="907256" cy="1088708"/>
          </a:xfrm>
          <a:prstGeom prst="rect">
            <a:avLst/>
          </a:prstGeom>
        </p:spPr>
      </p:pic>
      <p:sp>
        <p:nvSpPr>
          <p:cNvPr id="13" name="Text 7"/>
          <p:cNvSpPr/>
          <p:nvPr/>
        </p:nvSpPr>
        <p:spPr>
          <a:xfrm>
            <a:off x="1973223" y="5359956"/>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Alerts</a:t>
            </a:r>
            <a:endParaRPr lang="en-US" sz="1750" dirty="0"/>
          </a:p>
        </p:txBody>
      </p:sp>
      <p:sp>
        <p:nvSpPr>
          <p:cNvPr id="14" name="Text 8"/>
          <p:cNvSpPr/>
          <p:nvPr/>
        </p:nvSpPr>
        <p:spPr>
          <a:xfrm>
            <a:off x="1973223" y="5752267"/>
            <a:ext cx="11863387" cy="290274"/>
          </a:xfrm>
          <a:prstGeom prst="rect">
            <a:avLst/>
          </a:prstGeom>
          <a:noFill/>
          <a:ln/>
        </p:spPr>
        <p:txBody>
          <a:bodyPr wrap="non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Instant notifications sent to users via email with relevant video evidence.</a:t>
            </a:r>
            <a:endParaRPr lang="en-US" sz="1400" dirty="0"/>
          </a:p>
        </p:txBody>
      </p:sp>
      <p:pic>
        <p:nvPicPr>
          <p:cNvPr id="15" name="Image 4" descr="preencoded.png"/>
          <p:cNvPicPr>
            <a:picLocks noChangeAspect="1"/>
          </p:cNvPicPr>
          <p:nvPr/>
        </p:nvPicPr>
        <p:blipFill>
          <a:blip r:embed="rId7"/>
          <a:stretch>
            <a:fillRect/>
          </a:stretch>
        </p:blipFill>
        <p:spPr>
          <a:xfrm>
            <a:off x="793790" y="6267212"/>
            <a:ext cx="907256" cy="1088708"/>
          </a:xfrm>
          <a:prstGeom prst="rect">
            <a:avLst/>
          </a:prstGeom>
        </p:spPr>
      </p:pic>
      <p:sp>
        <p:nvSpPr>
          <p:cNvPr id="16" name="Text 9"/>
          <p:cNvSpPr/>
          <p:nvPr/>
        </p:nvSpPr>
        <p:spPr>
          <a:xfrm>
            <a:off x="1973223" y="6448663"/>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CFCBBF"/>
                </a:solidFill>
                <a:latin typeface="Prata" pitchFamily="34" charset="0"/>
                <a:ea typeface="Prata" pitchFamily="34" charset="-122"/>
                <a:cs typeface="Prata" pitchFamily="34" charset="-120"/>
              </a:rPr>
              <a:t>Cloud Storage</a:t>
            </a:r>
            <a:endParaRPr lang="en-US" sz="1750" dirty="0"/>
          </a:p>
        </p:txBody>
      </p:sp>
      <p:sp>
        <p:nvSpPr>
          <p:cNvPr id="17" name="Text 10"/>
          <p:cNvSpPr/>
          <p:nvPr/>
        </p:nvSpPr>
        <p:spPr>
          <a:xfrm>
            <a:off x="1973223" y="6840974"/>
            <a:ext cx="11863387" cy="290274"/>
          </a:xfrm>
          <a:prstGeom prst="rect">
            <a:avLst/>
          </a:prstGeom>
          <a:noFill/>
          <a:ln/>
        </p:spPr>
        <p:txBody>
          <a:bodyPr wrap="none" lIns="0" tIns="0" rIns="0" bIns="0" rtlCol="0" anchor="t"/>
          <a:lstStyle/>
          <a:p>
            <a:pPr marL="0" indent="0" algn="l">
              <a:lnSpc>
                <a:spcPts val="2250"/>
              </a:lnSpc>
              <a:buNone/>
            </a:pPr>
            <a:r>
              <a:rPr lang="en-US" sz="1400" dirty="0">
                <a:solidFill>
                  <a:srgbClr val="CFCBBF"/>
                </a:solidFill>
                <a:latin typeface="Raleway" pitchFamily="34" charset="0"/>
                <a:ea typeface="Raleway" pitchFamily="34" charset="-122"/>
                <a:cs typeface="Raleway" pitchFamily="34" charset="-120"/>
              </a:rPr>
              <a:t>Videos are securely backed up to cloud platforms for easy retrieval and monitoring.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80442"/>
            <a:ext cx="5103614" cy="637937"/>
          </a:xfrm>
          <a:prstGeom prst="rect">
            <a:avLst/>
          </a:prstGeom>
          <a:noFill/>
          <a:ln/>
        </p:spPr>
        <p:txBody>
          <a:bodyPr wrap="none" lIns="0" tIns="0" rIns="0" bIns="0" rtlCol="0" anchor="t"/>
          <a:lstStyle/>
          <a:p>
            <a:pPr marL="0" indent="0" algn="l">
              <a:lnSpc>
                <a:spcPts val="5000"/>
              </a:lnSpc>
              <a:buNone/>
            </a:pPr>
            <a:r>
              <a:rPr lang="en-US" sz="4000" dirty="0">
                <a:solidFill>
                  <a:srgbClr val="F2E782"/>
                </a:solidFill>
                <a:latin typeface="Prata" pitchFamily="34" charset="0"/>
                <a:ea typeface="Prata" pitchFamily="34" charset="-122"/>
                <a:cs typeface="Prata" pitchFamily="34" charset="-120"/>
              </a:rPr>
              <a:t>Why This Project?</a:t>
            </a:r>
            <a:endParaRPr lang="en-US" sz="4000" dirty="0"/>
          </a:p>
        </p:txBody>
      </p:sp>
      <p:sp>
        <p:nvSpPr>
          <p:cNvPr id="4" name="Shape 1"/>
          <p:cNvSpPr/>
          <p:nvPr/>
        </p:nvSpPr>
        <p:spPr>
          <a:xfrm>
            <a:off x="793790" y="1854041"/>
            <a:ext cx="459224" cy="459224"/>
          </a:xfrm>
          <a:prstGeom prst="roundRect">
            <a:avLst>
              <a:gd name="adj" fmla="val 6668"/>
            </a:avLst>
          </a:prstGeom>
          <a:solidFill>
            <a:srgbClr val="3A3B3C"/>
          </a:solidFill>
          <a:ln/>
        </p:spPr>
      </p:sp>
      <p:sp>
        <p:nvSpPr>
          <p:cNvPr id="5" name="Text 2"/>
          <p:cNvSpPr/>
          <p:nvPr/>
        </p:nvSpPr>
        <p:spPr>
          <a:xfrm>
            <a:off x="1457087" y="1854041"/>
            <a:ext cx="4647724" cy="318849"/>
          </a:xfrm>
          <a:prstGeom prst="rect">
            <a:avLst/>
          </a:prstGeom>
          <a:noFill/>
          <a:ln/>
        </p:spPr>
        <p:txBody>
          <a:bodyPr wrap="none" lIns="0" tIns="0" rIns="0" bIns="0" rtlCol="0" anchor="t"/>
          <a:lstStyle/>
          <a:p>
            <a:pPr marL="0" indent="0" algn="l">
              <a:lnSpc>
                <a:spcPts val="2500"/>
              </a:lnSpc>
              <a:buNone/>
            </a:pPr>
            <a:r>
              <a:rPr lang="en-US" sz="2000" b="1" dirty="0">
                <a:solidFill>
                  <a:srgbClr val="CFCBBF"/>
                </a:solidFill>
                <a:latin typeface="Prata" pitchFamily="34" charset="0"/>
                <a:ea typeface="Prata" pitchFamily="34" charset="-122"/>
                <a:cs typeface="Prata" pitchFamily="34" charset="-120"/>
              </a:rPr>
              <a:t>Automated security for homes/offices.</a:t>
            </a:r>
            <a:endParaRPr lang="en-US" sz="2000" dirty="0"/>
          </a:p>
        </p:txBody>
      </p:sp>
      <p:sp>
        <p:nvSpPr>
          <p:cNvPr id="6" name="Text 3"/>
          <p:cNvSpPr/>
          <p:nvPr/>
        </p:nvSpPr>
        <p:spPr>
          <a:xfrm>
            <a:off x="1457087" y="2295287"/>
            <a:ext cx="6893123" cy="653415"/>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This system elevates protection by automating surveillance to reduce manual monitoring and improve responsiveness.</a:t>
            </a:r>
            <a:endParaRPr lang="en-US" sz="1600" dirty="0"/>
          </a:p>
        </p:txBody>
      </p:sp>
      <p:sp>
        <p:nvSpPr>
          <p:cNvPr id="7" name="Shape 4"/>
          <p:cNvSpPr/>
          <p:nvPr/>
        </p:nvSpPr>
        <p:spPr>
          <a:xfrm>
            <a:off x="793790" y="3382328"/>
            <a:ext cx="459224" cy="459224"/>
          </a:xfrm>
          <a:prstGeom prst="roundRect">
            <a:avLst>
              <a:gd name="adj" fmla="val 6668"/>
            </a:avLst>
          </a:prstGeom>
          <a:solidFill>
            <a:srgbClr val="3A3B3C"/>
          </a:solidFill>
          <a:ln/>
        </p:spPr>
      </p:sp>
      <p:sp>
        <p:nvSpPr>
          <p:cNvPr id="8" name="Text 5"/>
          <p:cNvSpPr/>
          <p:nvPr/>
        </p:nvSpPr>
        <p:spPr>
          <a:xfrm>
            <a:off x="1457087" y="3382328"/>
            <a:ext cx="3741658" cy="318849"/>
          </a:xfrm>
          <a:prstGeom prst="rect">
            <a:avLst/>
          </a:prstGeom>
          <a:noFill/>
          <a:ln/>
        </p:spPr>
        <p:txBody>
          <a:bodyPr wrap="none" lIns="0" tIns="0" rIns="0" bIns="0" rtlCol="0" anchor="t"/>
          <a:lstStyle/>
          <a:p>
            <a:pPr marL="0" indent="0" algn="l">
              <a:lnSpc>
                <a:spcPts val="2500"/>
              </a:lnSpc>
              <a:buNone/>
            </a:pPr>
            <a:r>
              <a:rPr lang="en-US" sz="2000" b="1" dirty="0">
                <a:solidFill>
                  <a:srgbClr val="CFCBBF"/>
                </a:solidFill>
                <a:latin typeface="Prata" pitchFamily="34" charset="0"/>
                <a:ea typeface="Prata" pitchFamily="34" charset="-122"/>
                <a:cs typeface="Prata" pitchFamily="34" charset="-120"/>
              </a:rPr>
              <a:t>Motivation Behind the Project:</a:t>
            </a:r>
            <a:endParaRPr lang="en-US" sz="2000" dirty="0"/>
          </a:p>
        </p:txBody>
      </p:sp>
      <p:sp>
        <p:nvSpPr>
          <p:cNvPr id="9" name="Text 6"/>
          <p:cNvSpPr/>
          <p:nvPr/>
        </p:nvSpPr>
        <p:spPr>
          <a:xfrm>
            <a:off x="1457087" y="3823573"/>
            <a:ext cx="6893123" cy="653415"/>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Increasing incidents of theft and unauthorized access demand smarter security.</a:t>
            </a:r>
            <a:endParaRPr lang="en-US" sz="1600" dirty="0"/>
          </a:p>
        </p:txBody>
      </p:sp>
      <p:sp>
        <p:nvSpPr>
          <p:cNvPr id="10" name="Text 7"/>
          <p:cNvSpPr/>
          <p:nvPr/>
        </p:nvSpPr>
        <p:spPr>
          <a:xfrm>
            <a:off x="1457087" y="4599384"/>
            <a:ext cx="6893123" cy="326708"/>
          </a:xfrm>
          <a:prstGeom prst="rect">
            <a:avLst/>
          </a:prstGeom>
          <a:noFill/>
          <a:ln/>
        </p:spPr>
        <p:txBody>
          <a:bodyPr wrap="non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Traditional CCTV systems only record — they don’t respond.</a:t>
            </a:r>
            <a:endParaRPr lang="en-US" sz="1600" dirty="0"/>
          </a:p>
        </p:txBody>
      </p:sp>
      <p:sp>
        <p:nvSpPr>
          <p:cNvPr id="11" name="Text 8"/>
          <p:cNvSpPr/>
          <p:nvPr/>
        </p:nvSpPr>
        <p:spPr>
          <a:xfrm>
            <a:off x="1457087" y="5048488"/>
            <a:ext cx="6893123" cy="653415"/>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With automation, alerts, and facial recognition, the camera becomes proactive, not just reactive.</a:t>
            </a:r>
            <a:endParaRPr lang="en-US" sz="1600" dirty="0"/>
          </a:p>
        </p:txBody>
      </p:sp>
      <p:sp>
        <p:nvSpPr>
          <p:cNvPr id="12" name="Shape 9"/>
          <p:cNvSpPr/>
          <p:nvPr/>
        </p:nvSpPr>
        <p:spPr>
          <a:xfrm>
            <a:off x="793790" y="6135529"/>
            <a:ext cx="459224" cy="459224"/>
          </a:xfrm>
          <a:prstGeom prst="roundRect">
            <a:avLst>
              <a:gd name="adj" fmla="val 6668"/>
            </a:avLst>
          </a:prstGeom>
          <a:solidFill>
            <a:srgbClr val="3A3B3C"/>
          </a:solidFill>
          <a:ln/>
        </p:spPr>
      </p:sp>
      <p:sp>
        <p:nvSpPr>
          <p:cNvPr id="13" name="Text 10"/>
          <p:cNvSpPr/>
          <p:nvPr/>
        </p:nvSpPr>
        <p:spPr>
          <a:xfrm>
            <a:off x="1457087" y="6135529"/>
            <a:ext cx="6893123" cy="637699"/>
          </a:xfrm>
          <a:prstGeom prst="rect">
            <a:avLst/>
          </a:prstGeom>
          <a:noFill/>
          <a:ln/>
        </p:spPr>
        <p:txBody>
          <a:bodyPr wrap="square" lIns="0" tIns="0" rIns="0" bIns="0" rtlCol="0" anchor="t"/>
          <a:lstStyle/>
          <a:p>
            <a:pPr marL="0" indent="0" algn="l">
              <a:lnSpc>
                <a:spcPts val="2500"/>
              </a:lnSpc>
              <a:buNone/>
            </a:pPr>
            <a:r>
              <a:rPr lang="en-US" sz="2000" b="1" dirty="0">
                <a:solidFill>
                  <a:srgbClr val="CFCBBF"/>
                </a:solidFill>
                <a:latin typeface="Prata" pitchFamily="34" charset="0"/>
                <a:ea typeface="Prata" pitchFamily="34" charset="-122"/>
                <a:cs typeface="Prata" pitchFamily="34" charset="-120"/>
              </a:rPr>
              <a:t>Combines motion detection, face recognition, and instant alerts.</a:t>
            </a:r>
            <a:endParaRPr lang="en-US" sz="2000" dirty="0"/>
          </a:p>
        </p:txBody>
      </p:sp>
      <p:sp>
        <p:nvSpPr>
          <p:cNvPr id="14" name="Text 11"/>
          <p:cNvSpPr/>
          <p:nvPr/>
        </p:nvSpPr>
        <p:spPr>
          <a:xfrm>
            <a:off x="1457087" y="6895624"/>
            <a:ext cx="6893123" cy="653415"/>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Using AI and computer vision, the camera identifies potential threats efficiently, keeping you informed instantly.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CD38D27-0235-EF8C-0791-867BFE56156A}"/>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125980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Libraries &amp; Tools</a:t>
            </a:r>
            <a:endParaRPr lang="en-US" sz="4450" dirty="0"/>
          </a:p>
        </p:txBody>
      </p:sp>
      <p:sp>
        <p:nvSpPr>
          <p:cNvPr id="3" name="Shape 1"/>
          <p:cNvSpPr/>
          <p:nvPr/>
        </p:nvSpPr>
        <p:spPr>
          <a:xfrm>
            <a:off x="793790" y="2422208"/>
            <a:ext cx="4196358" cy="2032754"/>
          </a:xfrm>
          <a:prstGeom prst="roundRect">
            <a:avLst>
              <a:gd name="adj" fmla="val 1674"/>
            </a:avLst>
          </a:prstGeom>
          <a:solidFill>
            <a:srgbClr val="3A3B3C"/>
          </a:solidFill>
          <a:ln/>
        </p:spPr>
      </p:sp>
      <p:sp>
        <p:nvSpPr>
          <p:cNvPr id="4" name="Text 2"/>
          <p:cNvSpPr/>
          <p:nvPr/>
        </p:nvSpPr>
        <p:spPr>
          <a:xfrm>
            <a:off x="1020604" y="264902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OpenCV</a:t>
            </a:r>
            <a:endParaRPr lang="en-US" sz="2200" dirty="0"/>
          </a:p>
        </p:txBody>
      </p:sp>
      <p:sp>
        <p:nvSpPr>
          <p:cNvPr id="5" name="Text 3"/>
          <p:cNvSpPr/>
          <p:nvPr/>
        </p:nvSpPr>
        <p:spPr>
          <a:xfrm>
            <a:off x="1020604" y="313944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Powerful computer vision library enabling motion tracking and video processing.</a:t>
            </a:r>
            <a:endParaRPr lang="en-US" sz="1750" dirty="0"/>
          </a:p>
        </p:txBody>
      </p:sp>
      <p:sp>
        <p:nvSpPr>
          <p:cNvPr id="6" name="Shape 4"/>
          <p:cNvSpPr/>
          <p:nvPr/>
        </p:nvSpPr>
        <p:spPr>
          <a:xfrm>
            <a:off x="5216962" y="2422208"/>
            <a:ext cx="4196358" cy="2032754"/>
          </a:xfrm>
          <a:prstGeom prst="roundRect">
            <a:avLst>
              <a:gd name="adj" fmla="val 1674"/>
            </a:avLst>
          </a:prstGeom>
          <a:solidFill>
            <a:srgbClr val="3A3B3C"/>
          </a:solidFill>
          <a:ln/>
        </p:spPr>
      </p:sp>
      <p:sp>
        <p:nvSpPr>
          <p:cNvPr id="7" name="Text 5"/>
          <p:cNvSpPr/>
          <p:nvPr/>
        </p:nvSpPr>
        <p:spPr>
          <a:xfrm>
            <a:off x="5443776" y="264902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face_recognition</a:t>
            </a:r>
            <a:endParaRPr lang="en-US" sz="2200" dirty="0"/>
          </a:p>
        </p:txBody>
      </p:sp>
      <p:sp>
        <p:nvSpPr>
          <p:cNvPr id="8" name="Text 6"/>
          <p:cNvSpPr/>
          <p:nvPr/>
        </p:nvSpPr>
        <p:spPr>
          <a:xfrm>
            <a:off x="5443776" y="313944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Robust facial recognition API for detecting and identifying faces efficiently.</a:t>
            </a:r>
            <a:endParaRPr lang="en-US" sz="1750" dirty="0"/>
          </a:p>
        </p:txBody>
      </p:sp>
      <p:sp>
        <p:nvSpPr>
          <p:cNvPr id="9" name="Shape 7"/>
          <p:cNvSpPr/>
          <p:nvPr/>
        </p:nvSpPr>
        <p:spPr>
          <a:xfrm>
            <a:off x="9640133" y="2422208"/>
            <a:ext cx="4196358" cy="2032754"/>
          </a:xfrm>
          <a:prstGeom prst="roundRect">
            <a:avLst>
              <a:gd name="adj" fmla="val 1674"/>
            </a:avLst>
          </a:prstGeom>
          <a:solidFill>
            <a:srgbClr val="3A3B3C"/>
          </a:solidFill>
          <a:ln/>
        </p:spPr>
      </p:sp>
      <p:sp>
        <p:nvSpPr>
          <p:cNvPr id="10" name="Text 8"/>
          <p:cNvSpPr/>
          <p:nvPr/>
        </p:nvSpPr>
        <p:spPr>
          <a:xfrm>
            <a:off x="9866948" y="264902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Flask</a:t>
            </a:r>
            <a:endParaRPr lang="en-US" sz="2200" dirty="0"/>
          </a:p>
        </p:txBody>
      </p:sp>
      <p:sp>
        <p:nvSpPr>
          <p:cNvPr id="11" name="Text 9"/>
          <p:cNvSpPr/>
          <p:nvPr/>
        </p:nvSpPr>
        <p:spPr>
          <a:xfrm>
            <a:off x="9866948" y="3139440"/>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Lightweight web framework to handle backend server and API endpoints.</a:t>
            </a:r>
            <a:endParaRPr lang="en-US" sz="1750" dirty="0"/>
          </a:p>
        </p:txBody>
      </p:sp>
      <p:sp>
        <p:nvSpPr>
          <p:cNvPr id="12" name="Shape 10"/>
          <p:cNvSpPr/>
          <p:nvPr/>
        </p:nvSpPr>
        <p:spPr>
          <a:xfrm>
            <a:off x="793790" y="4681776"/>
            <a:ext cx="6408063" cy="1669852"/>
          </a:xfrm>
          <a:prstGeom prst="roundRect">
            <a:avLst>
              <a:gd name="adj" fmla="val 2038"/>
            </a:avLst>
          </a:prstGeom>
          <a:solidFill>
            <a:srgbClr val="3A3B3C"/>
          </a:solidFill>
          <a:ln/>
        </p:spPr>
      </p:sp>
      <p:sp>
        <p:nvSpPr>
          <p:cNvPr id="13" name="Text 11"/>
          <p:cNvSpPr/>
          <p:nvPr/>
        </p:nvSpPr>
        <p:spPr>
          <a:xfrm>
            <a:off x="1020604" y="49085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smtplib</a:t>
            </a:r>
            <a:endParaRPr lang="en-US" sz="2200" dirty="0"/>
          </a:p>
        </p:txBody>
      </p:sp>
      <p:sp>
        <p:nvSpPr>
          <p:cNvPr id="14" name="Text 12"/>
          <p:cNvSpPr/>
          <p:nvPr/>
        </p:nvSpPr>
        <p:spPr>
          <a:xfrm>
            <a:off x="1020604" y="5399008"/>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Python library for sending automated email alerts with attachments.</a:t>
            </a:r>
            <a:endParaRPr lang="en-US" sz="1750" dirty="0"/>
          </a:p>
        </p:txBody>
      </p:sp>
      <p:sp>
        <p:nvSpPr>
          <p:cNvPr id="15" name="Shape 13"/>
          <p:cNvSpPr/>
          <p:nvPr/>
        </p:nvSpPr>
        <p:spPr>
          <a:xfrm>
            <a:off x="7428667" y="4681776"/>
            <a:ext cx="6408063" cy="1669852"/>
          </a:xfrm>
          <a:prstGeom prst="roundRect">
            <a:avLst>
              <a:gd name="adj" fmla="val 2038"/>
            </a:avLst>
          </a:prstGeom>
          <a:solidFill>
            <a:srgbClr val="3A3B3C"/>
          </a:solidFill>
          <a:ln/>
        </p:spPr>
      </p:sp>
      <p:sp>
        <p:nvSpPr>
          <p:cNvPr id="16" name="Text 14"/>
          <p:cNvSpPr/>
          <p:nvPr/>
        </p:nvSpPr>
        <p:spPr>
          <a:xfrm>
            <a:off x="7655481" y="49085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Google Drive API</a:t>
            </a:r>
            <a:endParaRPr lang="en-US" sz="2200" dirty="0"/>
          </a:p>
        </p:txBody>
      </p:sp>
      <p:sp>
        <p:nvSpPr>
          <p:cNvPr id="17" name="Text 15"/>
          <p:cNvSpPr/>
          <p:nvPr/>
        </p:nvSpPr>
        <p:spPr>
          <a:xfrm>
            <a:off x="7655481" y="5399008"/>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Enables cloud backup and management of video files with secure and scalable storage.</a:t>
            </a:r>
            <a:endParaRPr lang="en-US" sz="1750" dirty="0"/>
          </a:p>
        </p:txBody>
      </p:sp>
      <p:sp>
        <p:nvSpPr>
          <p:cNvPr id="18" name="Text 16"/>
          <p:cNvSpPr/>
          <p:nvPr/>
        </p:nvSpPr>
        <p:spPr>
          <a:xfrm>
            <a:off x="793790" y="660677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Python-based, lightweight, and scalable framework designed for efficient deployment.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1656F5A-20EA-0F84-20E9-092C8BA01CB1}"/>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73390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See It in Action</a:t>
            </a:r>
            <a:endParaRPr lang="en-US" sz="4450" dirty="0"/>
          </a:p>
        </p:txBody>
      </p:sp>
      <p:pic>
        <p:nvPicPr>
          <p:cNvPr id="3" name="Image 0" descr="preencoded.png"/>
          <p:cNvPicPr>
            <a:picLocks noChangeAspect="1"/>
          </p:cNvPicPr>
          <p:nvPr/>
        </p:nvPicPr>
        <p:blipFill>
          <a:blip r:embed="rId3"/>
          <a:stretch>
            <a:fillRect/>
          </a:stretch>
        </p:blipFill>
        <p:spPr>
          <a:xfrm>
            <a:off x="793790" y="2037993"/>
            <a:ext cx="6244709" cy="4272677"/>
          </a:xfrm>
          <a:prstGeom prst="rect">
            <a:avLst/>
          </a:prstGeom>
        </p:spPr>
      </p:pic>
      <p:sp>
        <p:nvSpPr>
          <p:cNvPr id="4" name="Text 1"/>
          <p:cNvSpPr/>
          <p:nvPr/>
        </p:nvSpPr>
        <p:spPr>
          <a:xfrm>
            <a:off x="793790" y="6565821"/>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Live video interface highlighting detected motion with clear visual cues for real-time monitoring.</a:t>
            </a:r>
            <a:endParaRPr lang="en-US" sz="1750" dirty="0"/>
          </a:p>
        </p:txBody>
      </p:sp>
      <p:pic>
        <p:nvPicPr>
          <p:cNvPr id="5" name="Image 1" descr="preencoded.png"/>
          <p:cNvPicPr>
            <a:picLocks noChangeAspect="1"/>
          </p:cNvPicPr>
          <p:nvPr/>
        </p:nvPicPr>
        <p:blipFill>
          <a:blip r:embed="rId4"/>
          <a:stretch>
            <a:fillRect/>
          </a:stretch>
        </p:blipFill>
        <p:spPr>
          <a:xfrm>
            <a:off x="7599521" y="2037993"/>
            <a:ext cx="6244709" cy="4272677"/>
          </a:xfrm>
          <a:prstGeom prst="rect">
            <a:avLst/>
          </a:prstGeom>
        </p:spPr>
      </p:pic>
      <p:sp>
        <p:nvSpPr>
          <p:cNvPr id="6" name="Text 2"/>
          <p:cNvSpPr/>
          <p:nvPr/>
        </p:nvSpPr>
        <p:spPr>
          <a:xfrm>
            <a:off x="7599521" y="6565821"/>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Example of an email alert sent instantly with attached surveillance video for immediate review.</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34854"/>
            <a:ext cx="5983843" cy="673418"/>
          </a:xfrm>
          <a:prstGeom prst="rect">
            <a:avLst/>
          </a:prstGeom>
          <a:noFill/>
          <a:ln/>
        </p:spPr>
        <p:txBody>
          <a:bodyPr wrap="none" lIns="0" tIns="0" rIns="0" bIns="0" rtlCol="0" anchor="t"/>
          <a:lstStyle/>
          <a:p>
            <a:pPr marL="0" indent="0" algn="l">
              <a:lnSpc>
                <a:spcPts val="5300"/>
              </a:lnSpc>
              <a:buNone/>
            </a:pPr>
            <a:r>
              <a:rPr lang="en-US" sz="4200" dirty="0">
                <a:solidFill>
                  <a:srgbClr val="F2E782"/>
                </a:solidFill>
                <a:latin typeface="Prata" pitchFamily="34" charset="0"/>
                <a:ea typeface="Prata" pitchFamily="34" charset="-122"/>
                <a:cs typeface="Prata" pitchFamily="34" charset="-120"/>
              </a:rPr>
              <a:t>Challenges &amp; Solutions</a:t>
            </a:r>
            <a:endParaRPr lang="en-US" sz="4200" dirty="0"/>
          </a:p>
        </p:txBody>
      </p:sp>
      <p:sp>
        <p:nvSpPr>
          <p:cNvPr id="4" name="Shape 1"/>
          <p:cNvSpPr/>
          <p:nvPr/>
        </p:nvSpPr>
        <p:spPr>
          <a:xfrm>
            <a:off x="793790" y="1731407"/>
            <a:ext cx="7556421" cy="4831318"/>
          </a:xfrm>
          <a:prstGeom prst="roundRect">
            <a:avLst>
              <a:gd name="adj" fmla="val 669"/>
            </a:avLst>
          </a:prstGeom>
          <a:noFill/>
          <a:ln w="7620">
            <a:solidFill>
              <a:srgbClr val="FFFFFF">
                <a:alpha val="24000"/>
              </a:srgbClr>
            </a:solidFill>
            <a:prstDash val="solid"/>
          </a:ln>
        </p:spPr>
      </p:sp>
      <p:sp>
        <p:nvSpPr>
          <p:cNvPr id="5" name="Shape 2"/>
          <p:cNvSpPr/>
          <p:nvPr/>
        </p:nvSpPr>
        <p:spPr>
          <a:xfrm>
            <a:off x="801410" y="1739027"/>
            <a:ext cx="7541181" cy="618411"/>
          </a:xfrm>
          <a:prstGeom prst="rect">
            <a:avLst/>
          </a:prstGeom>
          <a:solidFill>
            <a:srgbClr val="FFFFFF">
              <a:alpha val="4000"/>
            </a:srgbClr>
          </a:solidFill>
          <a:ln/>
        </p:spPr>
      </p:sp>
      <p:sp>
        <p:nvSpPr>
          <p:cNvPr id="6" name="Text 3"/>
          <p:cNvSpPr/>
          <p:nvPr/>
        </p:nvSpPr>
        <p:spPr>
          <a:xfrm>
            <a:off x="1016794" y="1875830"/>
            <a:ext cx="3336012" cy="344805"/>
          </a:xfrm>
          <a:prstGeom prst="rect">
            <a:avLst/>
          </a:prstGeom>
          <a:noFill/>
          <a:ln/>
        </p:spPr>
        <p:txBody>
          <a:bodyPr wrap="none" lIns="0" tIns="0" rIns="0" bIns="0" rtlCol="0" anchor="t"/>
          <a:lstStyle/>
          <a:p>
            <a:pPr marL="0" indent="0" algn="l">
              <a:lnSpc>
                <a:spcPts val="2700"/>
              </a:lnSpc>
              <a:buNone/>
            </a:pPr>
            <a:r>
              <a:rPr lang="en-US" sz="1650" b="1" dirty="0">
                <a:solidFill>
                  <a:srgbClr val="CFCBBF"/>
                </a:solidFill>
                <a:latin typeface="Raleway" pitchFamily="34" charset="0"/>
                <a:ea typeface="Raleway" pitchFamily="34" charset="-122"/>
                <a:cs typeface="Raleway" pitchFamily="34" charset="-120"/>
              </a:rPr>
              <a:t>Challenge</a:t>
            </a:r>
            <a:endParaRPr lang="en-US" sz="1650" dirty="0"/>
          </a:p>
        </p:txBody>
      </p:sp>
      <p:sp>
        <p:nvSpPr>
          <p:cNvPr id="7" name="Text 4"/>
          <p:cNvSpPr/>
          <p:nvPr/>
        </p:nvSpPr>
        <p:spPr>
          <a:xfrm>
            <a:off x="4791194" y="1875830"/>
            <a:ext cx="3336012" cy="344805"/>
          </a:xfrm>
          <a:prstGeom prst="rect">
            <a:avLst/>
          </a:prstGeom>
          <a:noFill/>
          <a:ln/>
        </p:spPr>
        <p:txBody>
          <a:bodyPr wrap="none" lIns="0" tIns="0" rIns="0" bIns="0" rtlCol="0" anchor="t"/>
          <a:lstStyle/>
          <a:p>
            <a:pPr marL="0" indent="0" algn="l">
              <a:lnSpc>
                <a:spcPts val="2700"/>
              </a:lnSpc>
              <a:buNone/>
            </a:pPr>
            <a:r>
              <a:rPr lang="en-US" sz="1650" b="1" dirty="0">
                <a:solidFill>
                  <a:srgbClr val="CFCBBF"/>
                </a:solidFill>
                <a:latin typeface="Raleway" pitchFamily="34" charset="0"/>
                <a:ea typeface="Raleway" pitchFamily="34" charset="-122"/>
                <a:cs typeface="Raleway" pitchFamily="34" charset="-120"/>
              </a:rPr>
              <a:t>Solution</a:t>
            </a:r>
            <a:endParaRPr lang="en-US" sz="1650" dirty="0"/>
          </a:p>
        </p:txBody>
      </p:sp>
      <p:sp>
        <p:nvSpPr>
          <p:cNvPr id="8" name="Shape 5"/>
          <p:cNvSpPr/>
          <p:nvPr/>
        </p:nvSpPr>
        <p:spPr>
          <a:xfrm>
            <a:off x="801410" y="2357438"/>
            <a:ext cx="7541181" cy="963216"/>
          </a:xfrm>
          <a:prstGeom prst="rect">
            <a:avLst/>
          </a:prstGeom>
          <a:solidFill>
            <a:srgbClr val="000000">
              <a:alpha val="4000"/>
            </a:srgbClr>
          </a:solidFill>
          <a:ln/>
        </p:spPr>
      </p:sp>
      <p:sp>
        <p:nvSpPr>
          <p:cNvPr id="9" name="Text 6"/>
          <p:cNvSpPr/>
          <p:nvPr/>
        </p:nvSpPr>
        <p:spPr>
          <a:xfrm>
            <a:off x="1016794" y="2494240"/>
            <a:ext cx="3336012" cy="344805"/>
          </a:xfrm>
          <a:prstGeom prst="rect">
            <a:avLst/>
          </a:prstGeom>
          <a:noFill/>
          <a:ln/>
        </p:spPr>
        <p:txBody>
          <a:bodyPr wrap="non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False motion positives</a:t>
            </a:r>
            <a:endParaRPr lang="en-US" sz="1650" dirty="0"/>
          </a:p>
        </p:txBody>
      </p:sp>
      <p:sp>
        <p:nvSpPr>
          <p:cNvPr id="10" name="Text 7"/>
          <p:cNvSpPr/>
          <p:nvPr/>
        </p:nvSpPr>
        <p:spPr>
          <a:xfrm>
            <a:off x="4791194" y="2494240"/>
            <a:ext cx="3336012"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Adjusted sensor sensitivity and filtering algorithms</a:t>
            </a:r>
            <a:endParaRPr lang="en-US" sz="1650" dirty="0"/>
          </a:p>
        </p:txBody>
      </p:sp>
      <p:sp>
        <p:nvSpPr>
          <p:cNvPr id="11" name="Shape 8"/>
          <p:cNvSpPr/>
          <p:nvPr/>
        </p:nvSpPr>
        <p:spPr>
          <a:xfrm>
            <a:off x="801410" y="3320653"/>
            <a:ext cx="7541181" cy="963216"/>
          </a:xfrm>
          <a:prstGeom prst="rect">
            <a:avLst/>
          </a:prstGeom>
          <a:solidFill>
            <a:srgbClr val="FFFFFF">
              <a:alpha val="4000"/>
            </a:srgbClr>
          </a:solidFill>
          <a:ln/>
        </p:spPr>
      </p:sp>
      <p:sp>
        <p:nvSpPr>
          <p:cNvPr id="12" name="Text 9"/>
          <p:cNvSpPr/>
          <p:nvPr/>
        </p:nvSpPr>
        <p:spPr>
          <a:xfrm>
            <a:off x="1016794" y="3457456"/>
            <a:ext cx="3336012" cy="344805"/>
          </a:xfrm>
          <a:prstGeom prst="rect">
            <a:avLst/>
          </a:prstGeom>
          <a:noFill/>
          <a:ln/>
        </p:spPr>
        <p:txBody>
          <a:bodyPr wrap="non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Large video attachments</a:t>
            </a:r>
            <a:endParaRPr lang="en-US" sz="1650" dirty="0"/>
          </a:p>
        </p:txBody>
      </p:sp>
      <p:sp>
        <p:nvSpPr>
          <p:cNvPr id="13" name="Text 10"/>
          <p:cNvSpPr/>
          <p:nvPr/>
        </p:nvSpPr>
        <p:spPr>
          <a:xfrm>
            <a:off x="4791194" y="3457456"/>
            <a:ext cx="3336012"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Compression techniques with Google Drive upload integration</a:t>
            </a:r>
            <a:endParaRPr lang="en-US" sz="1650" dirty="0"/>
          </a:p>
        </p:txBody>
      </p:sp>
      <p:sp>
        <p:nvSpPr>
          <p:cNvPr id="14" name="Shape 11"/>
          <p:cNvSpPr/>
          <p:nvPr/>
        </p:nvSpPr>
        <p:spPr>
          <a:xfrm>
            <a:off x="801410" y="4283869"/>
            <a:ext cx="7541181" cy="963216"/>
          </a:xfrm>
          <a:prstGeom prst="rect">
            <a:avLst/>
          </a:prstGeom>
          <a:solidFill>
            <a:srgbClr val="000000">
              <a:alpha val="4000"/>
            </a:srgbClr>
          </a:solidFill>
          <a:ln/>
        </p:spPr>
      </p:sp>
      <p:sp>
        <p:nvSpPr>
          <p:cNvPr id="15" name="Text 12"/>
          <p:cNvSpPr/>
          <p:nvPr/>
        </p:nvSpPr>
        <p:spPr>
          <a:xfrm>
            <a:off x="1016794" y="4420672"/>
            <a:ext cx="3336012"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Maintaining speed while doing face checks</a:t>
            </a:r>
            <a:endParaRPr lang="en-US" sz="1650" dirty="0"/>
          </a:p>
        </p:txBody>
      </p:sp>
      <p:sp>
        <p:nvSpPr>
          <p:cNvPr id="16" name="Text 13"/>
          <p:cNvSpPr/>
          <p:nvPr/>
        </p:nvSpPr>
        <p:spPr>
          <a:xfrm>
            <a:off x="4791194" y="4420672"/>
            <a:ext cx="3336012"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Optimized frame processing with delay intervals</a:t>
            </a:r>
            <a:endParaRPr lang="en-US" sz="1650" dirty="0"/>
          </a:p>
        </p:txBody>
      </p:sp>
      <p:sp>
        <p:nvSpPr>
          <p:cNvPr id="17" name="Shape 14"/>
          <p:cNvSpPr/>
          <p:nvPr/>
        </p:nvSpPr>
        <p:spPr>
          <a:xfrm>
            <a:off x="801410" y="5247084"/>
            <a:ext cx="7541181" cy="1308021"/>
          </a:xfrm>
          <a:prstGeom prst="rect">
            <a:avLst/>
          </a:prstGeom>
          <a:solidFill>
            <a:srgbClr val="FFFFFF">
              <a:alpha val="4000"/>
            </a:srgbClr>
          </a:solidFill>
          <a:ln/>
        </p:spPr>
      </p:sp>
      <p:sp>
        <p:nvSpPr>
          <p:cNvPr id="18" name="Text 15"/>
          <p:cNvSpPr/>
          <p:nvPr/>
        </p:nvSpPr>
        <p:spPr>
          <a:xfrm>
            <a:off x="1016794" y="5383887"/>
            <a:ext cx="3336012"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Authenticating and managing API tokens</a:t>
            </a:r>
            <a:endParaRPr lang="en-US" sz="1650" dirty="0"/>
          </a:p>
        </p:txBody>
      </p:sp>
      <p:sp>
        <p:nvSpPr>
          <p:cNvPr id="19" name="Text 16"/>
          <p:cNvSpPr/>
          <p:nvPr/>
        </p:nvSpPr>
        <p:spPr>
          <a:xfrm>
            <a:off x="4791194" y="5383887"/>
            <a:ext cx="3336012" cy="1034415"/>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Secured cloud API credentials and used PyDrive for auto-upload</a:t>
            </a:r>
            <a:endParaRPr lang="en-US" sz="1650" dirty="0"/>
          </a:p>
        </p:txBody>
      </p:sp>
      <p:sp>
        <p:nvSpPr>
          <p:cNvPr id="20" name="Text 17"/>
          <p:cNvSpPr/>
          <p:nvPr/>
        </p:nvSpPr>
        <p:spPr>
          <a:xfrm>
            <a:off x="793790" y="6805136"/>
            <a:ext cx="7556421" cy="689610"/>
          </a:xfrm>
          <a:prstGeom prst="rect">
            <a:avLst/>
          </a:prstGeom>
          <a:noFill/>
          <a:ln/>
        </p:spPr>
        <p:txBody>
          <a:bodyPr wrap="square" lIns="0" tIns="0" rIns="0" bIns="0" rtlCol="0" anchor="t"/>
          <a:lstStyle/>
          <a:p>
            <a:pPr marL="0" indent="0" algn="l">
              <a:lnSpc>
                <a:spcPts val="2700"/>
              </a:lnSpc>
              <a:buNone/>
            </a:pPr>
            <a:r>
              <a:rPr lang="en-US" sz="1650" dirty="0">
                <a:solidFill>
                  <a:srgbClr val="CFCBBF"/>
                </a:solidFill>
                <a:latin typeface="Raleway" pitchFamily="34" charset="0"/>
                <a:ea typeface="Raleway" pitchFamily="34" charset="-122"/>
                <a:cs typeface="Raleway" pitchFamily="34" charset="-120"/>
              </a:rPr>
              <a:t>Addressing technical hurdles with adaptive algorithms ensures reliable performance and efficient data handling critical for user satisfaction.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99BD5CD-2A13-DEFE-8D7C-A91213892BE8}"/>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4525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What's Next?</a:t>
            </a:r>
            <a:endParaRPr lang="en-US" sz="4450" dirty="0"/>
          </a:p>
        </p:txBody>
      </p:sp>
      <p:pic>
        <p:nvPicPr>
          <p:cNvPr id="4" name="Image 1" descr="preencoded.png"/>
          <p:cNvPicPr>
            <a:picLocks noChangeAspect="1"/>
          </p:cNvPicPr>
          <p:nvPr/>
        </p:nvPicPr>
        <p:blipFill>
          <a:blip r:embed="rId4"/>
          <a:stretch>
            <a:fillRect/>
          </a:stretch>
        </p:blipFill>
        <p:spPr>
          <a:xfrm>
            <a:off x="6280190" y="3094196"/>
            <a:ext cx="566976" cy="566976"/>
          </a:xfrm>
          <a:prstGeom prst="rect">
            <a:avLst/>
          </a:prstGeom>
        </p:spPr>
      </p:pic>
      <p:sp>
        <p:nvSpPr>
          <p:cNvPr id="5" name="Text 1"/>
          <p:cNvSpPr/>
          <p:nvPr/>
        </p:nvSpPr>
        <p:spPr>
          <a:xfrm>
            <a:off x="6280190" y="3887986"/>
            <a:ext cx="2291953" cy="708660"/>
          </a:xfrm>
          <a:prstGeom prst="rect">
            <a:avLst/>
          </a:prstGeom>
          <a:noFill/>
          <a:ln/>
        </p:spPr>
        <p:txBody>
          <a:bodyPr wrap="squar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Mobile App Alerts</a:t>
            </a:r>
            <a:endParaRPr lang="en-US" sz="2200" dirty="0"/>
          </a:p>
        </p:txBody>
      </p:sp>
      <p:sp>
        <p:nvSpPr>
          <p:cNvPr id="6" name="Text 2"/>
          <p:cNvSpPr/>
          <p:nvPr/>
        </p:nvSpPr>
        <p:spPr>
          <a:xfrm>
            <a:off x="6280190" y="4732734"/>
            <a:ext cx="2291953"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Push notifications for instant updates on any device, anywhere.</a:t>
            </a:r>
            <a:endParaRPr lang="en-US" sz="1750" dirty="0"/>
          </a:p>
        </p:txBody>
      </p:sp>
      <p:pic>
        <p:nvPicPr>
          <p:cNvPr id="7" name="Image 2" descr="preencoded.png"/>
          <p:cNvPicPr>
            <a:picLocks noChangeAspect="1"/>
          </p:cNvPicPr>
          <p:nvPr/>
        </p:nvPicPr>
        <p:blipFill>
          <a:blip r:embed="rId5"/>
          <a:stretch>
            <a:fillRect/>
          </a:stretch>
        </p:blipFill>
        <p:spPr>
          <a:xfrm>
            <a:off x="8912304" y="3094196"/>
            <a:ext cx="566976" cy="566976"/>
          </a:xfrm>
          <a:prstGeom prst="rect">
            <a:avLst/>
          </a:prstGeom>
        </p:spPr>
      </p:pic>
      <p:sp>
        <p:nvSpPr>
          <p:cNvPr id="8" name="Text 3"/>
          <p:cNvSpPr/>
          <p:nvPr/>
        </p:nvSpPr>
        <p:spPr>
          <a:xfrm>
            <a:off x="8912304" y="3887986"/>
            <a:ext cx="2292072" cy="708660"/>
          </a:xfrm>
          <a:prstGeom prst="rect">
            <a:avLst/>
          </a:prstGeom>
          <a:noFill/>
          <a:ln/>
        </p:spPr>
        <p:txBody>
          <a:bodyPr wrap="squar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Low-Light Vision</a:t>
            </a:r>
            <a:endParaRPr lang="en-US" sz="2200" dirty="0"/>
          </a:p>
        </p:txBody>
      </p:sp>
      <p:sp>
        <p:nvSpPr>
          <p:cNvPr id="9" name="Text 4"/>
          <p:cNvSpPr/>
          <p:nvPr/>
        </p:nvSpPr>
        <p:spPr>
          <a:xfrm>
            <a:off x="8912304" y="4732734"/>
            <a:ext cx="2292072"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Enhanced camera sensors and algorithms for night-time surveillance.</a:t>
            </a:r>
            <a:endParaRPr lang="en-US" sz="1750" dirty="0"/>
          </a:p>
        </p:txBody>
      </p:sp>
      <p:pic>
        <p:nvPicPr>
          <p:cNvPr id="10" name="Image 3" descr="preencoded.png"/>
          <p:cNvPicPr>
            <a:picLocks noChangeAspect="1"/>
          </p:cNvPicPr>
          <p:nvPr/>
        </p:nvPicPr>
        <p:blipFill>
          <a:blip r:embed="rId6"/>
          <a:stretch>
            <a:fillRect/>
          </a:stretch>
        </p:blipFill>
        <p:spPr>
          <a:xfrm>
            <a:off x="11544538" y="3094196"/>
            <a:ext cx="566976" cy="566976"/>
          </a:xfrm>
          <a:prstGeom prst="rect">
            <a:avLst/>
          </a:prstGeom>
        </p:spPr>
      </p:pic>
      <p:sp>
        <p:nvSpPr>
          <p:cNvPr id="11" name="Text 5"/>
          <p:cNvSpPr/>
          <p:nvPr/>
        </p:nvSpPr>
        <p:spPr>
          <a:xfrm>
            <a:off x="11544538" y="3887986"/>
            <a:ext cx="2291953" cy="708660"/>
          </a:xfrm>
          <a:prstGeom prst="rect">
            <a:avLst/>
          </a:prstGeom>
          <a:noFill/>
          <a:ln/>
        </p:spPr>
        <p:txBody>
          <a:bodyPr wrap="squar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AI Threat Classification</a:t>
            </a:r>
            <a:endParaRPr lang="en-US" sz="2200" dirty="0"/>
          </a:p>
        </p:txBody>
      </p:sp>
      <p:sp>
        <p:nvSpPr>
          <p:cNvPr id="12" name="Text 6"/>
          <p:cNvSpPr/>
          <p:nvPr/>
        </p:nvSpPr>
        <p:spPr>
          <a:xfrm>
            <a:off x="11544538" y="4732734"/>
            <a:ext cx="2291953" cy="1451610"/>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Advanced AI to differentiate threat levels for prioritized response.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22302"/>
            <a:ext cx="5486400" cy="8229600"/>
          </a:xfrm>
          <a:prstGeom prst="rect">
            <a:avLst/>
          </a:prstGeom>
        </p:spPr>
      </p:pic>
      <p:sp>
        <p:nvSpPr>
          <p:cNvPr id="3" name="Text 0"/>
          <p:cNvSpPr/>
          <p:nvPr/>
        </p:nvSpPr>
        <p:spPr>
          <a:xfrm>
            <a:off x="793790" y="127408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Conclusion</a:t>
            </a:r>
            <a:endParaRPr lang="en-US" sz="4450" dirty="0"/>
          </a:p>
        </p:txBody>
      </p:sp>
      <p:sp>
        <p:nvSpPr>
          <p:cNvPr id="4" name="Text 1"/>
          <p:cNvSpPr/>
          <p:nvPr/>
        </p:nvSpPr>
        <p:spPr>
          <a:xfrm>
            <a:off x="793790" y="232302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This Smart Security Camera system successfully demonstrates how modern technologies like computer vision and automation can transform traditional surveillance.</a:t>
            </a:r>
            <a:endParaRPr lang="en-US" sz="1750" dirty="0"/>
          </a:p>
        </p:txBody>
      </p:sp>
      <p:sp>
        <p:nvSpPr>
          <p:cNvPr id="5" name="Text 2"/>
          <p:cNvSpPr/>
          <p:nvPr/>
        </p:nvSpPr>
        <p:spPr>
          <a:xfrm>
            <a:off x="793790" y="3666887"/>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CFCBBF"/>
                </a:solidFill>
                <a:latin typeface="Raleway" pitchFamily="34" charset="0"/>
                <a:ea typeface="Raleway" pitchFamily="34" charset="-122"/>
                <a:cs typeface="Raleway" pitchFamily="34" charset="-120"/>
              </a:rPr>
              <a:t>Key Takeaways:</a:t>
            </a:r>
            <a:endParaRPr lang="en-US" sz="1750" dirty="0"/>
          </a:p>
        </p:txBody>
      </p:sp>
      <p:sp>
        <p:nvSpPr>
          <p:cNvPr id="6" name="Text 3"/>
          <p:cNvSpPr/>
          <p:nvPr/>
        </p:nvSpPr>
        <p:spPr>
          <a:xfrm>
            <a:off x="793790" y="4284940"/>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Real-time detection and response</a:t>
            </a:r>
            <a:endParaRPr lang="en-US" sz="1750" dirty="0"/>
          </a:p>
        </p:txBody>
      </p:sp>
      <p:sp>
        <p:nvSpPr>
          <p:cNvPr id="7" name="Text 4"/>
          <p:cNvSpPr/>
          <p:nvPr/>
        </p:nvSpPr>
        <p:spPr>
          <a:xfrm>
            <a:off x="793790" y="472713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Easy to use and cost-effective</a:t>
            </a:r>
            <a:endParaRPr lang="en-US" sz="1750" dirty="0"/>
          </a:p>
        </p:txBody>
      </p:sp>
      <p:sp>
        <p:nvSpPr>
          <p:cNvPr id="8" name="Text 5"/>
          <p:cNvSpPr/>
          <p:nvPr/>
        </p:nvSpPr>
        <p:spPr>
          <a:xfrm>
            <a:off x="793790" y="5169337"/>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Secure and cloud-based</a:t>
            </a:r>
            <a:endParaRPr lang="en-US" sz="1750" dirty="0"/>
          </a:p>
        </p:txBody>
      </p:sp>
      <p:sp>
        <p:nvSpPr>
          <p:cNvPr id="9" name="Text 6"/>
          <p:cNvSpPr/>
          <p:nvPr/>
        </p:nvSpPr>
        <p:spPr>
          <a:xfrm>
            <a:off x="793790" y="5611535"/>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Fully customizable and extendable</a:t>
            </a:r>
            <a:endParaRPr lang="en-US" sz="1750" dirty="0"/>
          </a:p>
        </p:txBody>
      </p:sp>
      <p:sp>
        <p:nvSpPr>
          <p:cNvPr id="10" name="Text 7"/>
          <p:cNvSpPr/>
          <p:nvPr/>
        </p:nvSpPr>
        <p:spPr>
          <a:xfrm>
            <a:off x="793790" y="622958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It’s a step forward in making our homes and workplaces smarter and safer.</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11D8FC-8F4F-E823-9ED3-61DAA4340549}"/>
              </a:ext>
            </a:extLst>
          </p:cNvPr>
          <p:cNvSpPr/>
          <p:nvPr/>
        </p:nvSpPr>
        <p:spPr>
          <a:xfrm>
            <a:off x="0" y="0"/>
            <a:ext cx="14630400" cy="8229600"/>
          </a:xfrm>
          <a:prstGeom prst="rect">
            <a:avLst/>
          </a:prstGeom>
          <a:solidFill>
            <a:srgbClr val="1B1C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4479846" y="3760351"/>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F2E782"/>
                </a:solidFill>
                <a:latin typeface="Prata" pitchFamily="34" charset="0"/>
                <a:ea typeface="Prata" pitchFamily="34" charset="-122"/>
                <a:cs typeface="Prata"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646</Words>
  <Application>Microsoft Office PowerPoint</Application>
  <PresentationFormat>Custom</PresentationFormat>
  <Paragraphs>94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Prata</vt:lpstr>
      <vt:lpstr>Raleway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 Nsk</cp:lastModifiedBy>
  <cp:revision>2</cp:revision>
  <dcterms:created xsi:type="dcterms:W3CDTF">2025-04-19T11:50:44Z</dcterms:created>
  <dcterms:modified xsi:type="dcterms:W3CDTF">2025-04-19T12:18:02Z</dcterms:modified>
</cp:coreProperties>
</file>